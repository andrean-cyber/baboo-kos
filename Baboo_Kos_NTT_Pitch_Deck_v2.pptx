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image" Target="../media/image-9-8.jpg"/><Relationship Id="rId9" Type="http://schemas.openxmlformats.org/officeDocument/2006/relationships/image" Target="../media/image-9-9.jpg"/><Relationship Id="rId10" Type="http://schemas.openxmlformats.org/officeDocument/2006/relationships/image" Target="../media/image-9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778240" y="-1371600"/>
            <a:ext cx="5029200" cy="5029200"/>
          </a:xfrm>
          <a:prstGeom prst="star6">
            <a:avLst/>
          </a:prstGeom>
          <a:solidFill>
            <a:srgbClr val="E4E0C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STARTUP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CHALLENGE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Partnership &amp; Investment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Pitch Deck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0" y="5806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BABOO KOS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0" y="6217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Hunian Digital untuk Anak Rantau Indonesia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1645920" y="4389120"/>
            <a:ext cx="4114800" cy="4114800"/>
          </a:xfrm>
          <a:prstGeom prst="star6">
            <a:avLst/>
          </a:prstGeom>
          <a:solidFill>
            <a:srgbClr val="E4E0C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394960" y="640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94960" y="93268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us: digital concierge boarding search, trusted since 2021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12984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Problems We Solve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5910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friction in finding rental rooms in Indonesia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972800" y="1298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9568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&amp;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2494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digital concierge, plus the social impact it creates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10972800" y="19568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6151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Traction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9077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growth, trusted by thousands across Indonesia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0972800" y="26151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 Size &amp; Opportunity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35661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still-fragmented short-term rental market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0972800" y="3273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931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42245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human-first concierge wins where marketplaces can't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0972800" y="39319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4590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8828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Baboo Kos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10972800" y="45902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52486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Golden Slide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5541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x NTT DOCOMO Ventures synergy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0972800" y="52486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59070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Ask &amp; Roadmap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619963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needs and collaboration timeline with NTT Group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0972800" y="59070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About Baboo Kos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concierge for boarding searches, trustworthy since 2021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boarder's dream come true: finding the perfect place to live — honest and hassle-free.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as the fastest digital platform connecting housing seekers with boarding house owners through a highly user-friendly service — while helping owners improve operational quality through digitalization.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WhatsApp-based concierge service for finding boarding accommodation — customers pay a service fee (e.g., IDR 110,000) to receive curated recommendations within 2-6 days.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Problems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Solve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77840" y="457200"/>
            <a:ext cx="5989320" cy="1600200"/>
          </a:xfrm>
          <a:prstGeom prst="roundRect">
            <a:avLst>
              <a:gd name="adj" fmla="val 4571"/>
            </a:avLst>
          </a:prstGeom>
          <a:solidFill>
            <a:srgbClr val="F2A9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806440" y="566928"/>
            <a:ext cx="5532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started during COVID-19 — while others built marketplaces, we took a different path: manual, relationship-first.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06440" y="12344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Digital trust adoption among Gen Z renters has hit a tipping point, and NTT's new Synexia Ventures fund is actively seeking AI/IoT housing partners in Indonesia — the timing has never been better.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Opaque Information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2203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photos do not match reality, prices fluctuate, and the actual facilities are unclear.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228600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8456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 of Fraud &amp; Zonk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48456" y="3749040"/>
            <a:ext cx="2203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is prone to scams; many prospective tenants end up with a 'dud' boarding room after paying.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228600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Wasted Time and Effort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55664" y="3749040"/>
            <a:ext cx="2203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manual surveys across multiple locations is time-consuming, especially for newcomers to the city.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61704" y="228600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62872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Owners Not Yet Digital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62872" y="3749040"/>
            <a:ext cx="2203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boarding house owners still rely on manual promotion, struggling to reach prospective tenants.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&amp;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36192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Contact via WhatsApp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the Baboo Kos Admin via WA/Instagram/TikTok.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83864" y="13716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8456" y="1536192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23944" y="15087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Communicate Criteria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48456" y="1993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guides entry of criteria: location, budget, facilities, room type.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327648" y="13716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536192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7728" y="15087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Paid &amp; Processed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1993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payment, the team searches and curates the best options.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171432" y="137160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6024" y="1536192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11512" y="15087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Receive Recommendations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6024" y="1993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sends a curated list matching the criteria within 2-6 days.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10881360" cy="0"/>
          </a:xfrm>
          <a:prstGeom prst="line">
            <a:avLst/>
          </a:prstGeom>
          <a:noFill/>
          <a:ln w="12700">
            <a:solidFill>
              <a:srgbClr val="DC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6118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7764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Fairer Housing Access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Migrants, students &amp; new arrivals no longer fumble alone to find safe, budget-friendly rentals.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2852928" y="36118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0088" y="37764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Creating Jobs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90088" y="43891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CS, and field-survey roles provide genuine livelihoods, not just a lean-startup headcount.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065776" y="36118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02936" y="37764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Boosting Owner Economy (UMKM)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02936" y="43891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house owners get faster occupancy and a real digital channel.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278624" y="36118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15784" y="37764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Protecting Against Scams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15784" y="43891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makes Baboo Kos a layer of consumer protection in a fraud-prone sector.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9491472" y="361188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8632" y="37764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Healthier Urbanization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28632" y="43891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mobility for education and work supports more equitable economic growth.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77840" y="777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growth, trusted by thousands of people living away from home across Indonesia.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40rb+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seekers who trust Baboo Kos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47288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33rb+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47288" y="2926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satisfied with the service received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54496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4,7/5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54496" y="2926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satisfaction rating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61704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61704" y="2926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cities and areas across Indonesia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of Income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 fee per transaction (fee-based, paid by customer)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and partnerships with boarding house owners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Villa expansion line for the premium housing segment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Distribution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Jakarta, Bandung, Semarang, Yogyakarta, Surabaya, Malang, Bali, Medan, Makassar, Palembang, Balikpapan, and dozens of other cities — a continuously growing national reach.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 Size &amp;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a large and still-fragmented short-term rental market.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university students and young professionals migrate to major cities every academic/career cycle, all needing temporary housing.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boarding houses in Indonesia are still managed manually (offline) and are hard to find through trusted channels.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4572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 and a mobile young middle class are driving demand for flexible housing beyond conventional long-term rentals.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49591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Illustrative Market Size (TAM)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10.75M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8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students in Indonesia, 2025 (Kemdiktisaintek/PDDikti)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Rp700K-2.5M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52560" y="3200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8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kos price range nationally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4023360"/>
            <a:ext cx="4754880" cy="0"/>
          </a:xfrm>
          <a:prstGeom prst="line">
            <a:avLst/>
          </a:prstGeom>
          <a:noFill/>
          <a:ln w="12700">
            <a:solidFill>
              <a:srgbClr val="6B7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~Rp38 Trillion/year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bottom-up TAM from the student segment alone (assuming 30% live in a kos at ~Rp1M/month) — excludes young-professional migrants.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3796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AF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calculation based on national enrollment data; not an official published industry figure.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opportunity: solutions that combine trust, human curation, and technology — a gap perfectly filled by Baboo Kos.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Landscape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built a marketplace. We built trust.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Mamikos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marketplace listing (~6M renters/month, ~150K properties)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2194560" cy="0"/>
          </a:xfrm>
          <a:prstGeom prst="line">
            <a:avLst/>
          </a:prstGeom>
          <a:noFill/>
          <a:ln w="9525">
            <a:solidFill>
              <a:srgbClr val="DC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Baboo Kos: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— users search &amp; verify alone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Rukita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co-living &amp; property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3337560"/>
            <a:ext cx="2194560" cy="0"/>
          </a:xfrm>
          <a:prstGeom prst="line">
            <a:avLst/>
          </a:prstGeom>
          <a:noFill/>
          <a:ln w="9525">
            <a:solidFill>
              <a:srgbClr val="DC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Baboo Kos: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only its own units, not cross-platform 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RedDoorz / KoolKost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Budget-hotel-style kos network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2194560" cy="0"/>
          </a:xfrm>
          <a:prstGeom prst="line">
            <a:avLst/>
          </a:prstGeom>
          <a:noFill/>
          <a:ln w="9525">
            <a:solidFill>
              <a:srgbClr val="DC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Baboo Kos: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Corporate-standardized, less personal touch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6968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RoomMe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kos with standardized comfort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3337560"/>
            <a:ext cx="2194560" cy="0"/>
          </a:xfrm>
          <a:prstGeom prst="line">
            <a:avLst/>
          </a:prstGeom>
          <a:noFill/>
          <a:ln w="9525">
            <a:solidFill>
              <a:srgbClr val="DC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Baboo Kos: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0525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 (~2,000 rooms), Jakarta-focused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49591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6634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“We're not trying to out-list Mamikos. We're building the trust layer they can't replicate at scale.”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building trust, one conversation at a time</a:t>
            </a:r>
            <a:endParaRPr lang="en-US" sz="1250" dirty="0"/>
          </a:p>
        </p:txBody>
      </p:sp>
      <p:pic>
        <p:nvPicPr>
          <p:cNvPr id="4" name="Image 0" descr="/home/claude/team_photos/yuch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417320" cy="1629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7583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Yucha Pratama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352272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331720" y="1600200"/>
            <a:ext cx="0" cy="2880360"/>
          </a:xfrm>
          <a:prstGeom prst="line">
            <a:avLst/>
          </a:prstGeom>
          <a:noFill/>
          <a:ln w="12700">
            <a:solidFill>
              <a:srgbClr val="DCE0F0"/>
            </a:solidFill>
            <a:prstDash val="solid"/>
          </a:ln>
        </p:spPr>
      </p:sp>
      <p:pic>
        <p:nvPicPr>
          <p:cNvPr id="8" name="Image 1" descr="/home/claude/team_photos/pran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00200"/>
            <a:ext cx="841248" cy="9674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608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Pranayama Sukma F. W.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2578608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(ADM)</a:t>
            </a:r>
            <a:endParaRPr lang="en-US" sz="600" dirty="0"/>
          </a:p>
        </p:txBody>
      </p:sp>
      <p:pic>
        <p:nvPicPr>
          <p:cNvPr id="11" name="Image 2" descr="/home/claude/team_photos/afif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1600200"/>
            <a:ext cx="841248" cy="9674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94176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Afifa Nur Aulia Viranti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3694176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Development (HRD)</a:t>
            </a:r>
            <a:endParaRPr lang="en-US" sz="600" dirty="0"/>
          </a:p>
        </p:txBody>
      </p:sp>
      <p:pic>
        <p:nvPicPr>
          <p:cNvPr id="14" name="Image 3" descr="/home/claude/team_photos/meliani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600200"/>
            <a:ext cx="841248" cy="9674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09744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Meliani Ananda Ginting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4809744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Customer Service</a:t>
            </a:r>
            <a:endParaRPr lang="en-US" sz="600" dirty="0"/>
          </a:p>
        </p:txBody>
      </p:sp>
      <p:pic>
        <p:nvPicPr>
          <p:cNvPr id="17" name="Image 4" descr="/home/claude/team_photos/akma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1600200"/>
            <a:ext cx="841248" cy="9674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25312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Muchammad Akmal Mustofa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5925312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Content Creator</a:t>
            </a:r>
            <a:endParaRPr lang="en-US" sz="600" dirty="0"/>
          </a:p>
        </p:txBody>
      </p:sp>
      <p:pic>
        <p:nvPicPr>
          <p:cNvPr id="20" name="Image 5" descr="/home/claude/team_photos/kisf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1600200"/>
            <a:ext cx="841248" cy="96743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40880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Kisfa Azka Khalisha</a:t>
            </a:r>
            <a:endParaRPr lang="en-US" sz="700" dirty="0"/>
          </a:p>
        </p:txBody>
      </p:sp>
      <p:sp>
        <p:nvSpPr>
          <p:cNvPr id="22" name="Text 14"/>
          <p:cNvSpPr/>
          <p:nvPr/>
        </p:nvSpPr>
        <p:spPr>
          <a:xfrm>
            <a:off x="7040880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 (CM)</a:t>
            </a:r>
            <a:endParaRPr lang="en-US" sz="600" dirty="0"/>
          </a:p>
        </p:txBody>
      </p:sp>
      <p:pic>
        <p:nvPicPr>
          <p:cNvPr id="23" name="Image 6" descr="/home/claude/team_photos/dominiku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1600200"/>
            <a:ext cx="841248" cy="96743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156448" y="2604211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Dominikus Ivan Ardianto</a:t>
            </a:r>
            <a:endParaRPr lang="en-US" sz="700" dirty="0"/>
          </a:p>
        </p:txBody>
      </p:sp>
      <p:sp>
        <p:nvSpPr>
          <p:cNvPr id="25" name="Text 16"/>
          <p:cNvSpPr/>
          <p:nvPr/>
        </p:nvSpPr>
        <p:spPr>
          <a:xfrm>
            <a:off x="8156448" y="291510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Creative (CCR)</a:t>
            </a:r>
            <a:endParaRPr lang="en-US" sz="600" dirty="0"/>
          </a:p>
        </p:txBody>
      </p:sp>
      <p:pic>
        <p:nvPicPr>
          <p:cNvPr id="26" name="Image 7" descr="/home/claude/team_photos/atikah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226003"/>
            <a:ext cx="841248" cy="96743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578608" y="423001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Atikah Azra Wahdah</a:t>
            </a:r>
            <a:endParaRPr lang="en-US" sz="700" dirty="0"/>
          </a:p>
        </p:txBody>
      </p:sp>
      <p:sp>
        <p:nvSpPr>
          <p:cNvPr id="28" name="Text 18"/>
          <p:cNvSpPr/>
          <p:nvPr/>
        </p:nvSpPr>
        <p:spPr>
          <a:xfrm>
            <a:off x="2578608" y="454091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Specialist</a:t>
            </a:r>
            <a:endParaRPr lang="en-US" sz="600" dirty="0"/>
          </a:p>
        </p:txBody>
      </p:sp>
      <p:pic>
        <p:nvPicPr>
          <p:cNvPr id="29" name="Image 8" descr="/home/claude/team_photos/difa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3048" y="3226003"/>
            <a:ext cx="841248" cy="96743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694176" y="423001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Difa Aisyah Putri</a:t>
            </a:r>
            <a:endParaRPr lang="en-US" sz="700" dirty="0"/>
          </a:p>
        </p:txBody>
      </p:sp>
      <p:sp>
        <p:nvSpPr>
          <p:cNvPr id="31" name="Text 20"/>
          <p:cNvSpPr/>
          <p:nvPr/>
        </p:nvSpPr>
        <p:spPr>
          <a:xfrm>
            <a:off x="3694176" y="454091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Executive (ME)</a:t>
            </a:r>
            <a:endParaRPr lang="en-US" sz="600" dirty="0"/>
          </a:p>
        </p:txBody>
      </p:sp>
      <p:pic>
        <p:nvPicPr>
          <p:cNvPr id="32" name="Image 9" descr="/home/claude/team_photos/andrean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616" y="3226003"/>
            <a:ext cx="841248" cy="96743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809744" y="423001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Andrean Yogha Saputra</a:t>
            </a:r>
            <a:endParaRPr lang="en-US" sz="700" dirty="0"/>
          </a:p>
        </p:txBody>
      </p:sp>
      <p:sp>
        <p:nvSpPr>
          <p:cNvPr id="34" name="Text 22"/>
          <p:cNvSpPr/>
          <p:nvPr/>
        </p:nvSpPr>
        <p:spPr>
          <a:xfrm>
            <a:off x="4809744" y="454091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 / Digital Support</a:t>
            </a:r>
            <a:endParaRPr lang="en-US" sz="600" dirty="0"/>
          </a:p>
        </p:txBody>
      </p:sp>
      <p:sp>
        <p:nvSpPr>
          <p:cNvPr id="35" name="Shape 23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2A900">
              <a:alpha val="12000"/>
            </a:srgbClr>
          </a:solidFill>
          <a:ln/>
        </p:spPr>
      </p:sp>
      <p:sp>
        <p:nvSpPr>
          <p:cNvPr id="36" name="Text 24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people run daily operations — CS, content, marketing &amp; tech — the human-first engine a marketplace can't replicate. Technical execution for the AI platform is the core value the NTT partnership brings.</a:t>
            </a:r>
            <a:endParaRPr lang="en-US" sz="950" dirty="0"/>
          </a:p>
        </p:txBody>
      </p:sp>
      <p:sp>
        <p:nvSpPr>
          <p:cNvPr id="37" name="Text 2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Baboo Kos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520440" y="365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x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7764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DOCOMO Ventures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Digital Infrastructure for Urban Living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508760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BABOO KOS OFFERS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40,000+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House Seekers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70+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8076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Demand 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 We Want to Build Together?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housing platform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20445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776472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Discover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1770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what people actually need.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849270" y="3429000"/>
            <a:ext cx="2044598" cy="1234440"/>
          </a:xfrm>
          <a:prstGeom prst="roundRect">
            <a:avLst>
              <a:gd name="adj" fmla="val 5926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643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6430" y="3776472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86430" y="4069080"/>
            <a:ext cx="1770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by budget, location, lifestyle.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058461" y="3429000"/>
            <a:ext cx="20445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5621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5621" y="3776472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5621" y="4069080"/>
            <a:ext cx="1770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housing assistant helps search, compare, decide.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267651" y="3429000"/>
            <a:ext cx="2044598" cy="1234440"/>
          </a:xfrm>
          <a:prstGeom prst="roundRect">
            <a:avLst>
              <a:gd name="adj" fmla="val 5926"/>
            </a:avLst>
          </a:prstGeom>
          <a:solidFill>
            <a:srgbClr val="F7F8FD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4811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4811" y="3776472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Empower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4811" y="4069080"/>
            <a:ext cx="1770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intelligence on demand, pricing, occupancy.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9476842" y="3429000"/>
            <a:ext cx="204459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4002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14002" y="3776472"/>
            <a:ext cx="1770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14002" y="4069080"/>
            <a:ext cx="1770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integration with IoT and smart-living tech.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40080" y="48463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49591F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“Baboo understands the market. NTT brings the technology. Together, we can transform how people discover, choose, and experience their homes.”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Ask &amp;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stage — accelerating expansion and technology strengthening with NTT Group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Funding 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9591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SEED STAGE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run-rate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 — current monthly/annual figure]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 — avg. fee x monthly transactions]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Growth trajectory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 — MoM / YoY growth %]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Funding ask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filled — specific nominal amount]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4663440" cy="0"/>
          </a:xfrm>
          <a:prstGeom prst="line">
            <a:avLst/>
          </a:prstGeom>
          <a:noFill/>
          <a:ln w="12700">
            <a:solidFill>
              <a:srgbClr val="DC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of Funds: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1937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into new cities &amp; regions</a:t>
            </a:r>
            <a:endParaRPr lang="en-US" sz="87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development &amp; AI matching integration</a:t>
            </a:r>
            <a:endParaRPr lang="en-US" sz="87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operations &amp; customer service teams</a:t>
            </a:r>
            <a:endParaRPr lang="en-US" sz="870" dirty="0"/>
          </a:p>
          <a:p>
            <a:pPr marL="342900" indent="-3429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Smart-living infrastructure pilot with NTT partners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08076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49591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Roadmap Collaboration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Oct 2026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09560" y="2423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— online pitch presenting the collaboration concept to NTT Group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Nov 2026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 Jakarta — finalize Golden Slide &amp; discuss partnership terms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Q1 2027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9560" y="4251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 with one NTT operating company (data / infrastructure)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5166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Q2-Q3 2027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09560" y="51663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Scale-up: new city expansion &amp; full technology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869680" y="-1097280"/>
            <a:ext cx="4572000" cy="4572000"/>
          </a:xfrm>
          <a:prstGeom prst="star6">
            <a:avLst/>
          </a:prstGeom>
          <a:solidFill>
            <a:srgbClr val="E4E0C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9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is ready to serve as the distribution and pilot ground partner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49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NTT Group's smart-living solutions in Indonesia.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Yucha Pratama, CEO  |  babookos.com  |  wa.me/6287785338441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Kos  |  NTT Startup Challenge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2026-08-19T02:09:12Z</dcterms:created>
  <dcterms:modified xsi:type="dcterms:W3CDTF">2026-08-19T02:09:12Z</dcterms:modified>
</cp:coreProperties>
</file>